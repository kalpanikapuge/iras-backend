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822960" cy="54864"/>
          </a:xfrm>
          <a:prstGeom prst="rect">
            <a:avLst/>
          </a:prstGeom>
          <a:solidFill>
            <a:srgbClr val="F2A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2EC4B6"/>
                </a:solidFill>
                <a:latin typeface="Segoe UI Semibold"/>
              </a:rPr>
              <a:t>RESEARCH VIVA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 Semibold"/>
              </a:rPr>
              <a:t>Intelligent Recruitment Automation System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C9D6E6"/>
                </a:solidFill>
                <a:latin typeface="Segoe UI"/>
              </a:rPr>
              <a:t>for Job Description Creation, Application Shortlisting,</a:t>
            </a:r>
          </a:p>
          <a:p>
            <a:r>
              <a:rPr sz="1800" b="0" i="0">
                <a:solidFill>
                  <a:srgbClr val="C9D6E6"/>
                </a:solidFill>
                <a:latin typeface="Segoe UI"/>
              </a:rPr>
              <a:t>and Skill Gap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Presented by: 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Kalpani D. Kapuge  ·  Student ID 28870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Programme: 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BSc (Hons) in Software Engineering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Faculty: 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Faculty of Computing, NSBM Green University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Date: 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1">
                <a:solidFill>
                  <a:srgbClr val="9FB1C8"/>
                </a:solidFill>
                <a:latin typeface="Segoe UI"/>
              </a:rPr>
              <a:t>A layered, AI-assisted, human-governed web platform spanning Candidate, Employer and Administrator recruitment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What This Talk Covers</a:t>
            </a:r>
          </a:p>
          <a:p>
            <a:pPr>
              <a:spcBef>
                <a:spcPts val="200"/>
              </a:spcBef>
            </a:pPr>
            <a:r>
              <a:rPr sz="1350" b="0" i="0">
                <a:solidFill>
                  <a:srgbClr val="C9D6E6"/>
                </a:solidFill>
                <a:latin typeface="Segoe UI"/>
              </a:rPr>
              <a:t>Eight sections, aligned to the thesis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02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63624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63624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08760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Problem &amp; Motivation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Why recruitment automation still falls short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34056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34056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679192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Aim, Question &amp; Objectives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What this research set out to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04488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04488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49624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Literature Review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The gap: integrated vs. single-purpose AI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74920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20056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Methodology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Pragmatism, mixed methods, DSRM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563624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63624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508760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System Design &amp; Architecture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Requirements, layers, and data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734056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734056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679192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Core AI Contribution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Explainable multi-signal scoring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904488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904488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849624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Evaluation &amp; Results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98.5% classifier accuracy, tested &amp; traced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074920"/>
            <a:ext cx="822960" cy="96012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074920"/>
            <a:ext cx="822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C4B6"/>
                </a:solidFill>
                <a:latin typeface="Segoe UI Semibold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20056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>
                <a:solidFill>
                  <a:srgbClr val="222B38"/>
                </a:solidFill>
                <a:latin typeface="Segoe UI Semibold"/>
              </a:rPr>
              <a:t>Conclusion &amp; Future Work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5B6677"/>
                </a:solidFill>
                <a:latin typeface="Segoe UI"/>
              </a:rPr>
              <a:t>What was achieved,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01 · 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Recruitment Is Still Manual, Slow and Opaque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03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222B38"/>
                </a:solidFill>
                <a:latin typeface="Segoe UI"/>
              </a:rPr>
              <a:t>Application posting, resume screening, ranking, interview coordination and feedback are still largely manual or keyword-based</a:t>
            </a:r>
          </a:p>
          <a:p>
            <a:pPr>
              <a:spcBef>
                <a:spcPts val="100"/>
              </a:spcBef>
              <a:spcAft>
                <a:spcPts val="1300"/>
              </a:spcAft>
            </a:pPr>
            <a:r>
              <a:rPr sz="1450" b="0" i="0">
                <a:solidFill>
                  <a:srgbClr val="5B6677"/>
                </a:solidFill>
                <a:latin typeface="Segoe UI"/>
              </a:rPr>
              <a:t>      –  </a:t>
            </a:r>
            <a:r>
              <a:rPr sz="1450" b="0" i="0">
                <a:solidFill>
                  <a:srgbClr val="5B6677"/>
                </a:solidFill>
                <a:latin typeface="Segoe UI"/>
              </a:rPr>
              <a:t>Keyword matching misses meaning — a resume with “Node.js” won’t match a posting for “server-side JavaScript,” though they mean the same thing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222B38"/>
                </a:solidFill>
                <a:latin typeface="Segoe UI"/>
              </a:rPr>
              <a:t>Poorly written job descriptions attract the wrong candidates and discourage the right ones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222B38"/>
                </a:solidFill>
                <a:latin typeface="Segoe UI"/>
              </a:rPr>
              <a:t>Rejected candidates rarely receive feedback — a “black box” that limits their ability to improve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222B38"/>
                </a:solidFill>
                <a:latin typeface="Segoe UI"/>
              </a:rPr>
              <a:t>AI adoption in recruiting is accelerating: Generative-AI use among recruiters rose from 27% to 37% in a single year</a:t>
            </a:r>
          </a:p>
          <a:p>
            <a:pPr>
              <a:spcBef>
                <a:spcPts val="100"/>
              </a:spcBef>
              <a:spcAft>
                <a:spcPts val="1300"/>
              </a:spcAft>
            </a:pPr>
            <a:r>
              <a:rPr sz="1450" b="0" i="0">
                <a:solidFill>
                  <a:srgbClr val="5B6677"/>
                </a:solidFill>
                <a:latin typeface="Segoe UI"/>
              </a:rPr>
              <a:t>      –  </a:t>
            </a:r>
            <a:r>
              <a:rPr sz="1450" b="0" i="0">
                <a:solidFill>
                  <a:srgbClr val="5B6677"/>
                </a:solidFill>
                <a:latin typeface="Segoe UI"/>
              </a:rPr>
              <a:t>But unmanaged AI can introduce racial and gender bias into resume screening — automation alone is not the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01 · 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The Research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04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222B38"/>
                </a:solidFill>
                <a:latin typeface="Segoe UI"/>
              </a:rPr>
              <a:t>No single, intelligent system currently supports the </a:t>
            </a:r>
            <a:r>
              <a:rPr sz="1700" b="0" i="1">
                <a:solidFill>
                  <a:srgbClr val="222B38"/>
                </a:solidFill>
                <a:latin typeface="Segoe UI"/>
              </a:rPr>
              <a:t>full</a:t>
            </a:r>
            <a:r>
              <a:rPr sz="1700" b="0" i="0">
                <a:solidFill>
                  <a:srgbClr val="222B38"/>
                </a:solidFill>
                <a:latin typeface="Segoe UI"/>
              </a:rPr>
              <a:t> recruitment lifecycle end to 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525780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31720"/>
            <a:ext cx="525780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0F213D"/>
                </a:solidFill>
                <a:latin typeface="Segoe UI Semibold"/>
              </a:rPr>
              <a:t>Existing tools solve ONE piece: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Job post creation assistance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CV / resume screening &amp; parsing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Applicant ranking &amp; shortlisting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Skill-gap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2EC4B6"/>
                </a:solidFill>
                <a:latin typeface="Segoe UI Semibold"/>
              </a:rPr>
              <a:t>IRAS unifies them into one platform: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Automated candidate–job matching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CV generation &amp; interview coordination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Feedback provision &amp; notifications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22B38"/>
                </a:solidFill>
                <a:latin typeface="Segoe UI"/>
              </a:rPr>
              <a:t>•  Knowledge-base &amp; chatbot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1">
                <a:solidFill>
                  <a:srgbClr val="5B6677"/>
                </a:solidFill>
                <a:latin typeface="Segoe UI"/>
              </a:rPr>
              <a:t>→  This is the specific gap Intelligent Recruitment Automation System (IRAS) is built to fill.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02 · AIM, QUESTION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Research Question &amp; 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05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10881360" cy="19202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27632"/>
            <a:ext cx="103327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2EC4B6"/>
                </a:solidFill>
                <a:latin typeface="Segoe UI Semibold"/>
              </a:rPr>
              <a:t>MAIN RESEARCH QUESTION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FFFFFF"/>
                </a:solidFill>
                <a:latin typeface="Segoe UI"/>
              </a:rPr>
              <a:t>How can an Intelligent Recruitment Automation System with AI help in job-description development, application selection, candidate ranking, skill-gap identification, automated job–candidate matching, CV writing, interview scheduling, feedback, and transparency — for both employer and candidate?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0F213D"/>
                </a:solidFill>
                <a:latin typeface="Segoe UI Semibold"/>
              </a:rPr>
              <a:t>RESEARCH 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222B38"/>
                </a:solidFill>
                <a:latin typeface="Segoe UI"/>
              </a:rPr>
              <a:t>Design and develop IRAS by integrating AI and NLP with structured scoring techniques to improve the efficiency, consistency and transparency of recruitment — automating job descriptions, shortlisting, skill-gap analysis, matching, CV generation, interview scheduling, feedback, monitoring, and chatbot assistance.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02 · AIM, QUESTION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Research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06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02920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502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90472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F213D"/>
                </a:solidFill>
                <a:latin typeface="Segoe UI Semibold"/>
              </a:rPr>
              <a:t>To Identify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5B6677"/>
                </a:solidFill>
                <a:latin typeface="Segoe UI"/>
              </a:rPr>
              <a:t>Key challenges in traditional and AI-supported recruitment: screening, skill-gap ID, ranking, feedback, CV creation, interview scheduling, chatbot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502920" cy="1097280"/>
          </a:xfrm>
          <a:prstGeom prst="rect">
            <a:avLst/>
          </a:prstGeom>
          <a:solidFill>
            <a:srgbClr val="F2A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9748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F213D"/>
                </a:solidFill>
                <a:latin typeface="Segoe UI Semibold"/>
              </a:rPr>
              <a:t>To Analyze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5B6677"/>
                </a:solidFill>
                <a:latin typeface="Segoe UI"/>
              </a:rPr>
              <a:t>The current landscape of recruitment automation: resume screening, semantic matching, LLM-based JD generation, feedback, scheduling and chatbot-based processes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77056"/>
            <a:ext cx="502920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502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04488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F213D"/>
                </a:solidFill>
                <a:latin typeface="Segoe UI Semibold"/>
              </a:rPr>
              <a:t>To Design / Implement / Develop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5B6677"/>
                </a:solidFill>
                <a:latin typeface="Segoe UI"/>
              </a:rPr>
              <a:t>A web-based, three-role (Candidate / Employer / Admin) system with AI-assisted matching, skill-gap analysis, CV generation, scheduling, feedback and chatbot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84064"/>
            <a:ext cx="502920" cy="1097280"/>
          </a:xfrm>
          <a:prstGeom prst="rect">
            <a:avLst/>
          </a:prstGeom>
          <a:solidFill>
            <a:srgbClr val="F2A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84064"/>
            <a:ext cx="502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111496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F213D"/>
                </a:solidFill>
                <a:latin typeface="Segoe UI Semibold"/>
              </a:rPr>
              <a:t>To Evaluate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5B6677"/>
                </a:solidFill>
                <a:latin typeface="Segoe UI"/>
              </a:rPr>
              <a:t>Ranking accuracy, resume-parsing accuracy, skill-gap identification, CV-generation correctness, usability, transparency and user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03 ·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Twenty-Eight Sources, One Consistent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07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638409"/>
            <a:ext cx="6236208" cy="426698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ceptu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273"/>
            <a:ext cx="6126480" cy="41572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49440" y="1554480"/>
            <a:ext cx="4617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4617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28 sources reviewed, 2016 – 2026, majority from the last 5 years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Resume screening &amp; ranking (NLP / BERT / S-BERT): reduces effort, but explanation &amp; feedback stay weak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AI job-description generation: rarely linked back to screening or ranking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Skill-fit, feedback &amp; chatbot studies: each solves one recruitment stage in isolation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AI-fairness research (FAIRE benchmark): confirms bias risk in unmanaged AI screening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5623560"/>
            <a:ext cx="4617720" cy="7772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5705856"/>
            <a:ext cx="4297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Segoe UI"/>
              </a:rPr>
              <a:t>No study offers one unified, role-based, explainable recruitment platform — the gap IRAS fills.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Design Science Research, Guided by Pragmatism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08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177" y="1362456"/>
            <a:ext cx="9325165" cy="2075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sr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41" y="1417320"/>
            <a:ext cx="9215437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70332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Paradigm: Pragmatism — a practical problem, a working software artifact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Approach: Mixed methods — qualitative (literature, UX) + quantitative (ranking accuracy, ML metrics)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70332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Strategy: Design Science Research Methodology (DSRM) — problem → design → demonstration → evaluation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Project management: Scrum, sprint-based, incremental across Candidate / Employer / Admin 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05 · SYSTEM DESIGN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Proposed Solution — Three Roles, One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09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8138" y="1316736"/>
            <a:ext cx="7545243" cy="4818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ich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02" y="1371600"/>
            <a:ext cx="74355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05 · SYSTEM DESIGN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System Requirements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10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260604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18488"/>
            <a:ext cx="2331720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Stakeholders  Candidate · Employer  Admin · AI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508760"/>
            <a:ext cx="260604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18488"/>
            <a:ext cx="2331720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26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Use Cases  11 Candidate · 7 Employer  8 Administrator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08760"/>
            <a:ext cx="260604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618488"/>
            <a:ext cx="2331720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36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Domain Entities  across 8 module  swimlanes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1508760"/>
            <a:ext cx="2606040" cy="15087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618488"/>
            <a:ext cx="2331720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21 + 10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Functional +  Non-Functional 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108813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Requirements traced back to a specific research objective AND a fact-gathering activity — not guesswork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Use-case diagram models explicit UML «include» / «extend» dependencies (e.g. Post Job always includes Generate JD)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Full lifecycle state machines defined for Application (Applied → … → Hired/Rejected/Withdrawn) and SkillPlanEvidence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Enhanced ER diagram models weak entities and a disjoint, partial ISA specialization of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05 · SYSTEM DESIGN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A Layered Architecture, With One Deliberate Service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11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965960" cy="713232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 Semibold"/>
              </a:rPr>
              <a:t>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417320"/>
            <a:ext cx="8823960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417320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22B38"/>
                </a:solidFill>
                <a:latin typeface="Segoe UI"/>
              </a:rPr>
              <a:t>React + TypeScript (Vite) — Candidate, Employer and Admin portals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12848"/>
            <a:ext cx="1965960" cy="713232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12848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 Semibold"/>
              </a:rPr>
              <a:t>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212848"/>
            <a:ext cx="8823960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212848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22B38"/>
                </a:solidFill>
                <a:latin typeface="Segoe UI"/>
              </a:rPr>
              <a:t>ASP.NET Core controllers · JWT bearer auth · Swagger / OpenAPI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08376"/>
            <a:ext cx="1965960" cy="713232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08376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 Semibold"/>
              </a:rPr>
              <a:t>Application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008376"/>
            <a:ext cx="8823960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008376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22B38"/>
                </a:solidFill>
                <a:latin typeface="Segoe UI"/>
              </a:rPr>
              <a:t>Business services — matching, skill-gap, assessments, chat, CV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03904"/>
            <a:ext cx="1965960" cy="713232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03904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 Semibold"/>
              </a:rPr>
              <a:t>Domain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803904"/>
            <a:ext cx="8823960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03904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22B38"/>
                </a:solidFill>
                <a:latin typeface="Segoe UI"/>
              </a:rPr>
              <a:t>Persistent entities — User, Job, Application, SkillGap, Interview, 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99432"/>
            <a:ext cx="1965960" cy="713232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99432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 Semibold"/>
              </a:rPr>
              <a:t>Infrastructure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599432"/>
            <a:ext cx="8823960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599432"/>
            <a:ext cx="8503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222B38"/>
                </a:solidFill>
                <a:latin typeface="Segoe UI"/>
              </a:rPr>
              <a:t>EF Core + SQL Server (relational data) · Supabase (file/object storage only) · AI-service HTTP client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FFFFFF"/>
                </a:solidFill>
                <a:latin typeface="Segoe UI"/>
              </a:rPr>
              <a:t>External Python FastAPI AI microservice — resume parsing, semantic ranking, fit-classifier — isolated so it can scale, fail and redeploy independently of the core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06 · CORE AI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Explainable, Multi-Signal Candidate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12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7399" y="1362456"/>
            <a:ext cx="7026721" cy="31729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or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263" y="1417320"/>
            <a:ext cx="6916993" cy="3063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709160"/>
            <a:ext cx="108813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Total Score = weighted sum of Skill Match, Semantic Similarity, ML Fit Score and Assessment Score — weights are configurable, not hard-coded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Every score is persisted and shown to candidate AND employer as a breakdown, never a single opaque number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If the AI service is unreachable, the system degrades to skill-match-only scoring rather than failing the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06 · CORE AI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AI-Assisted, Not AI-Automated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13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257800" cy="19659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82296" cy="1965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0F213D"/>
                </a:solidFill>
                <a:latin typeface="Segoe UI Semibold"/>
              </a:rPr>
              <a:t>AI-Assisted Job Descriptions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222B38"/>
                </a:solidFill>
                <a:latin typeface="Segoe UI"/>
              </a:rPr>
              <a:t>Generated from minimal input, but always returned as an editable draft — employer must approve before it publishes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257800" cy="19659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82296" cy="1965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0F213D"/>
                </a:solidFill>
                <a:latin typeface="Segoe UI Semibold"/>
              </a:rPr>
              <a:t>Skill-Gap Explanation &amp; Plan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222B38"/>
                </a:solidFill>
                <a:latin typeface="Segoe UI"/>
              </a:rPr>
              <a:t>Plain-language AI explanation of the gap, plus a personalized, sequenced improvement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5257800" cy="19659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82296" cy="1965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0F213D"/>
                </a:solidFill>
                <a:latin typeface="Segoe UI Semibold"/>
              </a:rPr>
              <a:t>Confidence-Gated Evidence Review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222B38"/>
                </a:solidFill>
                <a:latin typeface="Segoe UI"/>
              </a:rPr>
              <a:t>High-confidence AI decisions auto-apply; low-confidence submissions escalate to an Administrator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5257800" cy="19659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82296" cy="1965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0F213D"/>
                </a:solidFill>
                <a:latin typeface="Segoe UI Semibold"/>
              </a:rPr>
              <a:t>Role-Aware Chatbot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222B38"/>
                </a:solidFill>
                <a:latin typeface="Segoe UI"/>
              </a:rPr>
              <a:t>Scoped strictly to the authenticated user’s own data and recruitment topics; out-of-scope questions are deflected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5B6677"/>
                </a:solidFill>
                <a:latin typeface="Segoe UI"/>
              </a:rPr>
              <a:t>Every AI-influenced decision is written to an immutable audit log — explainability by design, not an afterthought.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07 · EVALUATION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Structured Features Beat Free Text, Decisively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14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890776"/>
            <a:ext cx="6510528" cy="38079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ull_vs_tex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5640"/>
            <a:ext cx="6400800" cy="3698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69480" y="1463040"/>
            <a:ext cx="425196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72768"/>
            <a:ext cx="39776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98.5%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Deployed model (Logistic Regression) — full-feature test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971800"/>
            <a:ext cx="4251960" cy="13716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081528"/>
            <a:ext cx="39776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EC4B6"/>
                </a:solidFill>
                <a:latin typeface="Segoe UI Semibold"/>
              </a:rPr>
              <a:t>58.7%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Same model, text-only features — no skill / semantic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480560"/>
            <a:ext cx="4251960" cy="173736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590288"/>
            <a:ext cx="3977640" cy="1517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61F"/>
                </a:solidFill>
                <a:latin typeface="Segoe UI Semibold"/>
              </a:rPr>
              <a:t>+25 to +44 pts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B6677"/>
                </a:solidFill>
                <a:latin typeface="Segoe UI"/>
              </a:rPr>
              <a:t>Accuracy gained by every algorithm once skill-overlap +
semantic-similarity features are added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07 · EVALUATION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Why Logistic Regression, Not the Top-Scoring XGBoost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15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1501" y="1362456"/>
            <a:ext cx="10178518" cy="2441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fusion_matrix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65" y="1417320"/>
            <a:ext cx="1006879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977639"/>
            <a:ext cx="10881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XGBoost reached the highest test accuracy (98.9%) — 0.4 points above Logistic Regression (98.5%)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But the XGBoost model, trained on Linux, failed to deserialize on the Windows deployment target — a real integration-testing finding, not a hypothetical risk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Logistic Regression, Random Forest and Linear SVM store plain Python/NumPy parameters — no cross-platform risk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222B38"/>
                </a:solidFill>
                <a:latin typeface="Segoe UI"/>
              </a:rPr>
              <a:t>Decision: deployment reliability outweighed a 0.4-point accuracy gain → Logistic Regression shipped to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07 · EVALUATION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Testing Strategy — Design-Time Traceability + a Real Finding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16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222B38"/>
                </a:solidFill>
                <a:latin typeface="Segoe UI"/>
              </a:rPr>
              <a:t>10 sample test cases (7 functional + 3 non-functional) each traced from requirement → exact implementation unit</a:t>
            </a:r>
          </a:p>
          <a:p>
            <a:pPr>
              <a:spcAft>
                <a:spcPts val="1500"/>
              </a:spcAft>
            </a:pPr>
            <a:r>
              <a:rPr sz="15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222B38"/>
                </a:solidFill>
                <a:latin typeface="Segoe UI"/>
              </a:rPr>
              <a:t>Running the existing xUnit suite did not just pass or fail silently — it surfaced a genuine compile-time defect</a:t>
            </a:r>
          </a:p>
          <a:p>
            <a:pPr>
              <a:spcBef>
                <a:spcPts val="100"/>
              </a:spcBef>
              <a:spcAft>
                <a:spcPts val="1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5B6677"/>
                </a:solidFill>
                <a:latin typeface="Segoe UI"/>
              </a:rPr>
              <a:t>A hand-written test fake had drifted out of sync with an extended service interface (CS0535)</a:t>
            </a:r>
          </a:p>
          <a:p>
            <a:pPr>
              <a:spcBef>
                <a:spcPts val="100"/>
              </a:spcBef>
              <a:spcAft>
                <a:spcPts val="1500"/>
              </a:spcAft>
            </a:pPr>
            <a:r>
              <a:rPr sz="1400" b="0" i="0">
                <a:solidFill>
                  <a:srgbClr val="5B6677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5B6677"/>
                </a:solidFill>
                <a:latin typeface="Segoe UI"/>
              </a:rPr>
              <a:t>The statically-typed backend caught this before a single test could run against a stale fake and report a misleading “green” build</a:t>
            </a:r>
          </a:p>
          <a:p>
            <a:pPr>
              <a:spcAft>
                <a:spcPts val="1500"/>
              </a:spcAft>
            </a:pPr>
            <a:r>
              <a:rPr sz="15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222B38"/>
                </a:solidFill>
                <a:latin typeface="Segoe UI"/>
              </a:rPr>
              <a:t>Usability testing and load testing require a live, user-facing deployment — scoped honestly as near-term future work, not claimed as done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08 · 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Objectives Achieved — Triangulated, Not Assumed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17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0F213D"/>
                </a:solidFill>
                <a:latin typeface="Segoe UI Semibold"/>
              </a:rPr>
              <a:t>To Identify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214884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Accomplished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5448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0" i="0">
                <a:solidFill>
                  <a:srgbClr val="5B6677"/>
                </a:solidFill>
                <a:latin typeface="Segoe UI"/>
              </a:rPr>
              <a:t>Confirmed against 28 literature sources + the problem 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14600"/>
            <a:ext cx="10881360" cy="9601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0604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0F213D"/>
                </a:solidFill>
                <a:latin typeface="Segoe UI Semibold"/>
              </a:rPr>
              <a:t>To Analyze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743200"/>
            <a:ext cx="214884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Accomplished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0604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0" i="0">
                <a:solidFill>
                  <a:srgbClr val="5B6677"/>
                </a:solidFill>
                <a:latin typeface="Segoe UI"/>
              </a:rPr>
              <a:t>Every requirement traced to a specific literature-identified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5760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0F213D"/>
                </a:solidFill>
                <a:latin typeface="Segoe UI Semibold"/>
              </a:rPr>
              <a:t>To Design / Implement / Develop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794760"/>
            <a:ext cx="2148840" cy="5029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947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Accomplished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65760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0" i="0">
                <a:solidFill>
                  <a:srgbClr val="5B6677"/>
                </a:solidFill>
                <a:latin typeface="Segoe UI"/>
              </a:rPr>
              <a:t>21 functional requirements realized across Candidate / Employer /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10881360" cy="960120"/>
          </a:xfrm>
          <a:prstGeom prst="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09160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0F213D"/>
                </a:solidFill>
                <a:latin typeface="Segoe UI Semibold"/>
              </a:rPr>
              <a:t>To Evaluate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846320"/>
            <a:ext cx="2148840" cy="502920"/>
          </a:xfrm>
          <a:prstGeom prst="rect">
            <a:avLst/>
          </a:prstGeom>
          <a:solidFill>
            <a:srgbClr val="F2A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84632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Partially — quantitative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70916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0" i="0">
                <a:solidFill>
                  <a:srgbClr val="5B6677"/>
                </a:solidFill>
                <a:latin typeface="Segoe UI"/>
              </a:rPr>
              <a:t>98.5% classifier accuracy proven; usability &amp; CV-gen human evaluation is future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2EC4B6"/>
                </a:solidFill>
                <a:latin typeface="Segoe UI Semibold"/>
              </a:rPr>
              <a:t>08 · 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0624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 Semibold"/>
              </a:rPr>
              <a:t>Where This Goes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20256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B6677"/>
                </a:solidFill>
                <a:latin typeface="Segoe UI"/>
              </a:rPr>
              <a:t>IRAS — Intelligent Recruitment Automation System · Research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685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677"/>
                </a:solidFill>
                <a:latin typeface="Segoe UI"/>
              </a:rPr>
              <a:t>18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303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Live usability &amp; CV-generation evaluation with real candidates and employers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Load/performance testing under realistic concurrent traffic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Enable the ML Fit Score and Assessment Score weights in a controlled production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5394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Investigate ONNX export so a higher-scoring model isn’t excluded purely on deployment grounds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Extend the skill taxonomy to a second domain (e.g. healthcare credentialing) to test generalization</a:t>
            </a:r>
          </a:p>
          <a:p>
            <a:pPr>
              <a:spcAft>
                <a:spcPts val="1200"/>
              </a:spcAft>
            </a:pPr>
            <a:r>
              <a:rPr sz="1350" b="1" i="0">
                <a:solidFill>
                  <a:srgbClr val="2EC4B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Package the scoring + evidence-review engine as a white-label module for existing ATS vendors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0881360" cy="169164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2EC4B6"/>
                </a:solidFill>
                <a:latin typeface="Segoe UI Semibold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550" b="0" i="0">
                <a:solidFill>
                  <a:srgbClr val="FFFFFF"/>
                </a:solidFill>
                <a:latin typeface="Segoe UI"/>
              </a:rPr>
              <a:t>IRAS demonstrates a complete, auditable, AI-assisted recruitment lifecycle — not another single-purpose screening tool — with every consequential AI decision kept explainable and reviewable by a human.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2EC4B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9FB1C8"/>
                </a:solidFill>
                <a:latin typeface="Segoe UI"/>
              </a:rPr>
              <a:t>Kalpani D. Kapuge  ·  28870  ·  BSc (Hons) Software Engineering  ·  NSBM Green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